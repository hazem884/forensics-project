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4883"/>
            <a:ext cx="9144000" cy="2387600"/>
          </a:xfrm>
        </p:spPr>
        <p:txBody>
          <a:bodyPr/>
          <a:lstStyle/>
          <a:p>
            <a:r>
              <a:rPr lang="en-US" altLang="en-GB" b="1" dirty="0">
                <a:latin typeface="Times New Roman" panose="02020603050405020304" charset="0"/>
                <a:cs typeface="Times New Roman" panose="02020603050405020304" charset="0"/>
              </a:rPr>
              <a:t>Incident response flow and evidence triage process</a:t>
            </a:r>
            <a:endParaRPr lang="en-US" altLang="en-GB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845" y="2766060"/>
            <a:ext cx="10515600" cy="1325563"/>
          </a:xfrm>
        </p:spPr>
        <p:txBody>
          <a:bodyPr/>
          <a:p>
            <a:r>
              <a:rPr lang="en-US" altLang="en-GB" sz="5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Incident Response Flow</a:t>
            </a:r>
            <a:endParaRPr lang="en-US" altLang="en-GB" sz="5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Incident Detection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GB"/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IT staff discovers suspicious text file on desktop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No visible signs of ransomware or widespread compromise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Event reported to IT Security Team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Initial Response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GB"/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Isolated workstation from network (logical containment)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Verified no ongoing malicious processes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Evidence Preservation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endParaRPr lang="en-US" altLang="en-GB"/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Disk image created using FTK Imager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Hash values generated (SHA1 + FTK hash)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Ensured a forensically sound acquisition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4. Containment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GB"/>
          </a:p>
          <a:p>
            <a:r>
              <a:rPr lang="en-US" altLang="en-GB" b="1"/>
              <a:t>Ensured no other machines showed similar activity</a:t>
            </a:r>
            <a:endParaRPr lang="en-US" altLang="en-GB" b="1"/>
          </a:p>
          <a:p>
            <a:endParaRPr lang="en-US" altLang="en-GB" b="1"/>
          </a:p>
          <a:p>
            <a:r>
              <a:rPr lang="en-US" altLang="en-GB" b="1"/>
              <a:t>Isolated the infected machine </a:t>
            </a:r>
            <a:endParaRPr lang="en-US" altLang="en-GB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85" y="2766060"/>
            <a:ext cx="10515600" cy="1325563"/>
          </a:xfrm>
        </p:spPr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Evidence Triage Process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1. Evidence Collected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lnSpc>
                <a:spcPct val="70000"/>
              </a:lnSpc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Disk image (primary evidence)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Amcache / AmCache.hve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LNK shortcut artifacts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Registry hives (SAM, SYSTEM, SOFTWARE, NTUSER.DAT)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Security logs from Event Viewer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Replaced malicious executable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Defender Logs</a:t>
            </a:r>
            <a:endParaRPr lang="en-GB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GB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Scheduled Task</a:t>
            </a:r>
            <a:endParaRPr lang="en-GB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GB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 Triage Steps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GB"/>
              <a:t>Verified integrity of disk image (hash comparison)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Identified key forensic artifacts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Segmented data into:</a:t>
            </a:r>
            <a:endParaRPr lang="en-US" altLang="en-GB"/>
          </a:p>
          <a:p>
            <a:endParaRPr lang="en-US" altLang="en-GB"/>
          </a:p>
          <a:p>
            <a:pPr lvl="1"/>
            <a:r>
              <a:rPr lang="en-US" altLang="en-GB"/>
              <a:t>Execution artifacts (Amcache, Shimcache, LNK, Registry Run Keys)</a:t>
            </a:r>
            <a:endParaRPr lang="en-US" altLang="en-GB"/>
          </a:p>
          <a:p>
            <a:endParaRPr lang="en-US" altLang="en-GB"/>
          </a:p>
          <a:p>
            <a:pPr lvl="1"/>
            <a:r>
              <a:rPr lang="en-US" altLang="en-GB"/>
              <a:t>File-system changes (</a:t>
            </a:r>
            <a:r>
              <a:rPr lang="en-GB" altLang="en-US"/>
              <a:t>NTFS files</a:t>
            </a:r>
            <a:r>
              <a:rPr lang="en-US" altLang="en-GB"/>
              <a:t>, replaced EXE)</a:t>
            </a:r>
            <a:endParaRPr lang="en-US" altLang="en-GB"/>
          </a:p>
          <a:p>
            <a:endParaRPr lang="en-US" altLang="en-GB"/>
          </a:p>
          <a:p>
            <a:pPr lvl="1"/>
            <a:r>
              <a:rPr lang="en-US" altLang="en-GB"/>
              <a:t>User activity (RecentDocs, Logon events)</a:t>
            </a:r>
            <a:endParaRPr lang="en-US" altLang="en-GB"/>
          </a:p>
          <a:p>
            <a:endParaRPr lang="en-US" altLang="en-GB"/>
          </a:p>
          <a:p>
            <a:pPr lvl="1"/>
            <a:r>
              <a:rPr lang="en-US" altLang="en-GB"/>
              <a:t>System-wide logs (Security, Sysmon if present)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 Tools Used for Triage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7050"/>
            <a:ext cx="10515600" cy="4380230"/>
          </a:xfrm>
        </p:spPr>
        <p:txBody>
          <a:bodyPr/>
          <a:p>
            <a:pPr>
              <a:lnSpc>
                <a:spcPct val="30000"/>
              </a:lnSpc>
            </a:pPr>
            <a:r>
              <a:rPr lang="en-US" altLang="en-GB" sz="1800" b="1"/>
              <a:t>FTK Imager – disk imaging &amp; hashing</a:t>
            </a:r>
            <a:endParaRPr lang="en-US" altLang="en-GB" sz="1800" b="1"/>
          </a:p>
          <a:p>
            <a:pPr>
              <a:lnSpc>
                <a:spcPct val="30000"/>
              </a:lnSpc>
            </a:pPr>
            <a:endParaRPr lang="en-US" altLang="en-GB" sz="1800" b="1"/>
          </a:p>
          <a:p>
            <a:pPr>
              <a:lnSpc>
                <a:spcPct val="30000"/>
              </a:lnSpc>
            </a:pPr>
            <a:r>
              <a:rPr lang="en-US" altLang="en-GB" sz="1800" b="1"/>
              <a:t>MFT Explorer – MFT inspection</a:t>
            </a:r>
            <a:endParaRPr lang="en-US" altLang="en-GB" sz="1800" b="1"/>
          </a:p>
          <a:p>
            <a:pPr>
              <a:lnSpc>
                <a:spcPct val="30000"/>
              </a:lnSpc>
            </a:pPr>
            <a:endParaRPr lang="en-US" altLang="en-GB" sz="1800" b="1"/>
          </a:p>
          <a:p>
            <a:pPr>
              <a:lnSpc>
                <a:spcPct val="30000"/>
              </a:lnSpc>
            </a:pPr>
            <a:r>
              <a:rPr lang="en-US" altLang="en-GB" sz="1800" b="1"/>
              <a:t>MFTECmd – Amcache and MFT parsing</a:t>
            </a:r>
            <a:endParaRPr lang="en-US" altLang="en-GB" sz="1800" b="1"/>
          </a:p>
          <a:p>
            <a:pPr>
              <a:lnSpc>
                <a:spcPct val="30000"/>
              </a:lnSpc>
            </a:pPr>
            <a:endParaRPr lang="en-US" altLang="en-GB" sz="1800" b="1"/>
          </a:p>
          <a:p>
            <a:pPr>
              <a:lnSpc>
                <a:spcPct val="30000"/>
              </a:lnSpc>
            </a:pPr>
            <a:r>
              <a:rPr lang="en-US" altLang="en-GB" sz="1800" b="1"/>
              <a:t>Timeline Explorer – timeline building</a:t>
            </a:r>
            <a:endParaRPr lang="en-US" altLang="en-GB" sz="1800" b="1"/>
          </a:p>
          <a:p>
            <a:pPr>
              <a:lnSpc>
                <a:spcPct val="30000"/>
              </a:lnSpc>
            </a:pPr>
            <a:endParaRPr lang="en-US" altLang="en-GB" sz="1800" b="1"/>
          </a:p>
          <a:p>
            <a:pPr>
              <a:lnSpc>
                <a:spcPct val="30000"/>
              </a:lnSpc>
            </a:pPr>
            <a:r>
              <a:rPr lang="en-US" altLang="en-GB" sz="1800" b="1"/>
              <a:t>Event Viewer – log review</a:t>
            </a:r>
            <a:endParaRPr lang="en-US" altLang="en-GB" sz="1800" b="1"/>
          </a:p>
          <a:p>
            <a:pPr>
              <a:lnSpc>
                <a:spcPct val="30000"/>
              </a:lnSpc>
            </a:pPr>
            <a:endParaRPr lang="en-US" altLang="en-GB" sz="1800" b="1"/>
          </a:p>
          <a:p>
            <a:pPr>
              <a:lnSpc>
                <a:spcPct val="30000"/>
              </a:lnSpc>
            </a:pPr>
            <a:r>
              <a:rPr lang="en-US" altLang="en-GB" sz="1800" b="1"/>
              <a:t>Amcache Parser – executed programs</a:t>
            </a:r>
            <a:endParaRPr lang="en-US" altLang="en-GB" sz="1800" b="1"/>
          </a:p>
          <a:p>
            <a:pPr>
              <a:lnSpc>
                <a:spcPct val="30000"/>
              </a:lnSpc>
            </a:pPr>
            <a:endParaRPr lang="en-US" altLang="en-GB" sz="1800" b="1"/>
          </a:p>
          <a:p>
            <a:pPr>
              <a:lnSpc>
                <a:spcPct val="30000"/>
              </a:lnSpc>
            </a:pPr>
            <a:r>
              <a:rPr lang="en-US" altLang="en-GB" sz="1800" b="1"/>
              <a:t>LECmd – LNK analysis</a:t>
            </a:r>
            <a:endParaRPr lang="en-US" altLang="en-GB" sz="1800" b="1"/>
          </a:p>
          <a:p>
            <a:pPr>
              <a:lnSpc>
                <a:spcPct val="30000"/>
              </a:lnSpc>
            </a:pPr>
            <a:endParaRPr lang="en-US" altLang="en-GB" sz="1800" b="1"/>
          </a:p>
          <a:p>
            <a:pPr>
              <a:lnSpc>
                <a:spcPct val="30000"/>
              </a:lnSpc>
            </a:pPr>
            <a:r>
              <a:rPr lang="en-US" altLang="en-GB" sz="1800" b="1"/>
              <a:t>EaseUS – deleted data recovery</a:t>
            </a:r>
            <a:endParaRPr lang="en-US" altLang="en-GB" sz="1800" b="1"/>
          </a:p>
          <a:p>
            <a:pPr>
              <a:lnSpc>
                <a:spcPct val="30000"/>
              </a:lnSpc>
            </a:pPr>
            <a:endParaRPr lang="en-US" altLang="en-GB" sz="1800" b="1"/>
          </a:p>
          <a:p>
            <a:pPr>
              <a:lnSpc>
                <a:spcPct val="30000"/>
              </a:lnSpc>
            </a:pPr>
            <a:r>
              <a:rPr lang="en-GB" altLang="en-US" sz="1800" b="1"/>
              <a:t>ShellBag Explorer</a:t>
            </a:r>
            <a:endParaRPr lang="en-GB" altLang="en-US" sz="1800" b="1"/>
          </a:p>
          <a:p>
            <a:pPr>
              <a:lnSpc>
                <a:spcPct val="30000"/>
              </a:lnSpc>
            </a:pPr>
            <a:endParaRPr lang="en-GB" altLang="en-US" sz="1800" b="1"/>
          </a:p>
          <a:p>
            <a:pPr>
              <a:lnSpc>
                <a:spcPct val="30000"/>
              </a:lnSpc>
            </a:pPr>
            <a:endParaRPr lang="en-GB" altLang="en-US" sz="1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latin typeface="Times New Roman" panose="02020603050405020304" charset="0"/>
                <a:cs typeface="Times New Roman" panose="02020603050405020304" charset="0"/>
              </a:rPr>
              <a:t>4.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 Output of Triage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GB"/>
              <a:t>Confirmed presence of unauthorized replaced executable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Identified execution history via Amcache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Extracted LNK pointing to suspicious EXE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Identified relevant timestamps for the final timeline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1637</Words>
  <Application>WPS Presentation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Hazem</cp:lastModifiedBy>
  <cp:revision>3</cp:revision>
  <dcterms:created xsi:type="dcterms:W3CDTF">2025-07-23T00:59:00Z</dcterms:created>
  <dcterms:modified xsi:type="dcterms:W3CDTF">2025-11-29T17:21:33Z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06D69EB1F96A4BA88DAC6CCD6DE2F4D8_11</vt:lpwstr>
  </property>
  <property fmtid="{D5CDD505-2E9C-101B-9397-08002B2CF9AE}" pid="3" name="KSOProductBuildVer">
    <vt:lpwstr>2057-12.2.0.23149</vt:lpwstr>
  </property>
</Properties>
</file>