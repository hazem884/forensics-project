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69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7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4883"/>
            <a:ext cx="9144000" cy="2387600"/>
          </a:xfrm>
        </p:spPr>
        <p:txBody>
          <a:bodyPr/>
          <a:lstStyle/>
          <a:p>
            <a:r>
              <a:rPr lang="en-US" altLang="en-GB" dirty="0"/>
              <a:t>Final case walkthrough and legal compliance</a:t>
            </a:r>
            <a:endParaRPr lang="en-US" alt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Case Overview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Incident: Suspicious activity discovered on workstation</a:t>
            </a:r>
            <a:endParaRPr lang="en-US" altLang="en-GB"/>
          </a:p>
          <a:p>
            <a:r>
              <a:rPr lang="en-US" altLang="en-GB"/>
              <a:t>Date of Investigation: 12 December 2015</a:t>
            </a:r>
            <a:endParaRPr lang="en-US" altLang="en-GB"/>
          </a:p>
          <a:p>
            <a:r>
              <a:rPr lang="en-US" altLang="en-GB"/>
              <a:t>Key Discovery: A taunting message left on the system (“Catch me if you can!”)</a:t>
            </a:r>
            <a:endParaRPr lang="en-US" altLang="en-GB"/>
          </a:p>
          <a:p>
            <a:r>
              <a:rPr lang="en-US" altLang="en-GB"/>
              <a:t>Primary Goal: Determine what happened, identify attacker activity, evaluate forensic soundness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Attack Summary (What Actually Happened)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GB"/>
              <a:t>Attacker created a new local user “master</a:t>
            </a:r>
            <a:r>
              <a:rPr lang="en-GB" altLang="en-US"/>
              <a:t>”</a:t>
            </a:r>
            <a:endParaRPr lang="en-US" altLang="en-GB"/>
          </a:p>
          <a:p>
            <a:r>
              <a:rPr lang="en-US" altLang="en-GB"/>
              <a:t>Dropped multiple taunting text files</a:t>
            </a:r>
            <a:endParaRPr lang="en-US" altLang="en-GB"/>
          </a:p>
          <a:p>
            <a:r>
              <a:rPr lang="en-US" altLang="en-GB"/>
              <a:t>Modified/replaced magnify.exe (Accessibility tool)</a:t>
            </a:r>
            <a:endParaRPr lang="en-US" altLang="en-GB"/>
          </a:p>
          <a:p>
            <a:r>
              <a:rPr lang="en-US" altLang="en-GB"/>
              <a:t>Planted persistence LNK files in master and administrator user profiles</a:t>
            </a:r>
            <a:endParaRPr lang="en-US" altLang="en-GB"/>
          </a:p>
          <a:p>
            <a:r>
              <a:rPr lang="en-US" altLang="en-GB"/>
              <a:t> Executed magnify.exe (confirmed via Prefetch &amp; Amcache)</a:t>
            </a:r>
            <a:endParaRPr lang="en-US" altLang="en-GB"/>
          </a:p>
          <a:p>
            <a:r>
              <a:rPr lang="en-US" altLang="en-GB"/>
              <a:t> Connected externally immediately after execution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Performed anti-forensics using:</a:t>
            </a:r>
            <a:endParaRPr lang="en-US" altLang="en-GB"/>
          </a:p>
          <a:p>
            <a:pPr marL="742950" lvl="1" indent="-285750"/>
            <a:r>
              <a:rPr lang="en-US" altLang="en-GB"/>
              <a:t>System time rollback</a:t>
            </a:r>
            <a:endParaRPr lang="en-US" altLang="en-GB"/>
          </a:p>
          <a:p>
            <a:pPr marL="742950" lvl="1" indent="-285750"/>
            <a:r>
              <a:rPr lang="en-US" altLang="en-GB"/>
              <a:t>Deleting Windows Event Logs (confirmed missing)</a:t>
            </a:r>
            <a:endParaRPr lang="en-US" altLang="en-GB"/>
          </a:p>
          <a:p>
            <a:pPr marL="742950" lvl="1" indent="-285750"/>
            <a:r>
              <a:rPr lang="en-US" altLang="en-GB"/>
              <a:t>$I30 index wiping</a:t>
            </a:r>
            <a:endParaRPr lang="en-US" altLang="en-GB"/>
          </a:p>
          <a:p>
            <a:pPr marL="285750" indent="-285750"/>
            <a:r>
              <a:rPr lang="en-US" altLang="en-GB"/>
              <a:t> Attempted to create misleading timestamps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This was a coordinated attack with intent to hide activity.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GB"/>
              <a:t>Accounts on the system</a:t>
            </a:r>
            <a:endParaRPr lang="en-GB" altLang="en-GB"/>
          </a:p>
        </p:txBody>
      </p:sp>
      <p:pic>
        <p:nvPicPr>
          <p:cNvPr id="21" name="Picture 21" descr="dates change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magnify.exe</a:t>
            </a:r>
            <a:endParaRPr lang="en-GB" altLang="en-US"/>
          </a:p>
        </p:txBody>
      </p:sp>
      <p:pic>
        <p:nvPicPr>
          <p:cNvPr id="31" name="Picture 31" descr="magnify timelin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System logon event (“FirstLogonAnim.exe”)</a:t>
            </a:r>
            <a:endParaRPr lang="en-US" altLang="en-GB"/>
          </a:p>
        </p:txBody>
      </p:sp>
      <p:pic>
        <p:nvPicPr>
          <p:cNvPr id="18" name="Picture 18" descr="amcache complete time 1"/>
          <p:cNvPicPr>
            <a:picLocks noChangeAspect="1"/>
          </p:cNvPicPr>
          <p:nvPr>
            <p:ph sz="half" idx="1"/>
          </p:nvPr>
        </p:nvPicPr>
        <p:blipFill>
          <a:blip r:embed="rId1"/>
          <a:srcRect l="16511" r="16511"/>
          <a:stretch>
            <a:fillRect/>
          </a:stretch>
        </p:blipFill>
        <p:spPr>
          <a:xfrm>
            <a:off x="838200" y="1825625"/>
            <a:ext cx="10516235" cy="435165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ThumbnailExtractionHost.exe executed</a:t>
            </a:r>
            <a:endParaRPr lang="en-US" altLang="en-GB"/>
          </a:p>
        </p:txBody>
      </p:sp>
      <p:pic>
        <p:nvPicPr>
          <p:cNvPr id="19" name="Picture 19" descr="amcache complete time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456815"/>
            <a:ext cx="10515600" cy="2927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info.txt created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r="-622" b="44332"/>
          <a:stretch>
            <a:fillRect/>
          </a:stretch>
        </p:blipFill>
        <p:spPr>
          <a:xfrm>
            <a:off x="838200" y="2981960"/>
            <a:ext cx="10581005" cy="664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Suspicious network connection in Tcpip Interfaces</a:t>
            </a:r>
            <a:endParaRPr lang="en-US" altLang="en-GB"/>
          </a:p>
        </p:txBody>
      </p:sp>
      <p:pic>
        <p:nvPicPr>
          <p:cNvPr id="14" name="Picture 14" descr="checking the network interface on registary syste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SYSTEM TIME CHANGED</a:t>
            </a:r>
            <a:endParaRPr lang="en-US" altLang="en-GB"/>
          </a:p>
        </p:txBody>
      </p:sp>
      <p:pic>
        <p:nvPicPr>
          <p:cNvPr id="22" name="Picture 22" descr="new tim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master login</a:t>
            </a:r>
            <a:endParaRPr lang="en-GB" altLang="en-US"/>
          </a:p>
        </p:txBody>
      </p:sp>
      <p:pic>
        <p:nvPicPr>
          <p:cNvPr id="23" name="Picture 23" descr="new log i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GB"/>
              <a:t>magnify.exe</a:t>
            </a:r>
            <a:endParaRPr lang="en-GB" altLang="en-GB"/>
          </a:p>
        </p:txBody>
      </p:sp>
      <p:pic>
        <p:nvPicPr>
          <p:cNvPr id="29" name="Picture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31235" y="1825625"/>
            <a:ext cx="503047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Legal Compliance: Evidence Handling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en-US" altLang="en-GB"/>
              <a:t>Hashing</a:t>
            </a:r>
            <a:endParaRPr lang="en-US" altLang="en-GB"/>
          </a:p>
          <a:p>
            <a:pPr lvl="1"/>
            <a:r>
              <a:rPr lang="en-US" altLang="en-GB"/>
              <a:t>Disk acquired with FTK Imager</a:t>
            </a:r>
            <a:endParaRPr lang="en-US" altLang="en-GB"/>
          </a:p>
          <a:p>
            <a:pPr lvl="1"/>
            <a:r>
              <a:rPr lang="en-US" altLang="en-GB"/>
              <a:t>SHA-1 &amp; MD5 hashes recorded for each evidence source</a:t>
            </a:r>
            <a:endParaRPr lang="en-US" altLang="en-GB"/>
          </a:p>
          <a:p>
            <a:pPr marL="0" indent="0">
              <a:buNone/>
            </a:pPr>
            <a:r>
              <a:rPr lang="en-GB" altLang="en-US"/>
              <a:t>	</a:t>
            </a:r>
            <a:r>
              <a:rPr lang="en-US" altLang="en-GB"/>
              <a:t> Ensures forensic soundness</a:t>
            </a:r>
            <a:endParaRPr lang="en-US" altLang="en-GB"/>
          </a:p>
          <a:p>
            <a:pPr marL="457200" lvl="1" indent="457200">
              <a:buNone/>
            </a:pPr>
            <a:r>
              <a:rPr lang="en-US" altLang="en-GB"/>
              <a:t> Supports evidence admissibility</a:t>
            </a:r>
            <a:endParaRPr lang="en-US" altLang="en-GB"/>
          </a:p>
          <a:p>
            <a:r>
              <a:rPr lang="en-US" altLang="en-GB"/>
              <a:t>Chain of Custody</a:t>
            </a:r>
            <a:endParaRPr lang="en-US" altLang="en-GB"/>
          </a:p>
          <a:p>
            <a:pPr lvl="1"/>
            <a:r>
              <a:rPr lang="en-US" altLang="en-GB"/>
              <a:t>Recorded each step:</a:t>
            </a:r>
            <a:endParaRPr lang="en-US" altLang="en-GB"/>
          </a:p>
          <a:p>
            <a:pPr lvl="2"/>
            <a:r>
              <a:rPr lang="en-US" altLang="en-GB"/>
              <a:t>Disk acquisition</a:t>
            </a:r>
            <a:endParaRPr lang="en-US" altLang="en-GB"/>
          </a:p>
          <a:p>
            <a:pPr lvl="2"/>
            <a:r>
              <a:rPr lang="en-US" altLang="en-GB"/>
              <a:t>Exported registry hives</a:t>
            </a:r>
            <a:endParaRPr lang="en-US" altLang="en-GB"/>
          </a:p>
          <a:p>
            <a:pPr lvl="2"/>
            <a:r>
              <a:rPr lang="en-US" altLang="en-GB"/>
              <a:t>Extraction of LNK, MFT, logs</a:t>
            </a:r>
            <a:endParaRPr lang="en-US" altLang="en-GB"/>
          </a:p>
          <a:p>
            <a:pPr marL="1371600" lvl="3" indent="0">
              <a:buNone/>
            </a:pPr>
            <a:r>
              <a:rPr lang="en-US" altLang="en-GB"/>
              <a:t> Ensures no tampering</a:t>
            </a:r>
            <a:endParaRPr lang="en-US" altLang="en-GB"/>
          </a:p>
          <a:p>
            <a:pPr marL="1371600" lvl="3" indent="0">
              <a:buNone/>
            </a:pPr>
            <a:r>
              <a:rPr lang="en-US" altLang="en-GB"/>
              <a:t> Required for courtroom use</a:t>
            </a:r>
            <a:r>
              <a:rPr lang="en-GB" altLang="en-US"/>
              <a:t>	</a:t>
            </a:r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Legal Assessment of the Attack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GB"/>
              <a:t>Intent</a:t>
            </a:r>
            <a:endParaRPr lang="en-US" altLang="en-GB"/>
          </a:p>
          <a:p>
            <a:pPr lvl="1"/>
            <a:r>
              <a:rPr lang="en-US" altLang="en-GB"/>
              <a:t>Evidence indicates deliberate sabotage &amp; harassment, not accidental behavior.</a:t>
            </a:r>
            <a:endParaRPr lang="en-US" altLang="en-GB"/>
          </a:p>
          <a:p>
            <a:r>
              <a:rPr lang="en-US" altLang="en-GB"/>
              <a:t>Unauthorized Access</a:t>
            </a:r>
            <a:endParaRPr lang="en-US" altLang="en-GB"/>
          </a:p>
          <a:p>
            <a:pPr lvl="1"/>
            <a:r>
              <a:rPr lang="en-US" altLang="en-GB"/>
              <a:t>Creating “master” account = unauthorized system modification</a:t>
            </a:r>
            <a:endParaRPr lang="en-US" altLang="en-GB"/>
          </a:p>
          <a:p>
            <a:pPr lvl="1"/>
            <a:r>
              <a:rPr lang="en-US" altLang="en-GB"/>
              <a:t>Replacing magnify.exe = security breach</a:t>
            </a:r>
            <a:endParaRPr lang="en-US" altLang="en-GB"/>
          </a:p>
          <a:p>
            <a:pPr lvl="1"/>
            <a:r>
              <a:rPr lang="en-US" altLang="en-GB"/>
              <a:t>Network connections = possible exfiltration attempt</a:t>
            </a:r>
            <a:endParaRPr lang="en-US" altLang="en-GB"/>
          </a:p>
          <a:p>
            <a:r>
              <a:rPr lang="en-US" altLang="en-GB"/>
              <a:t>Tampering with Logs</a:t>
            </a:r>
            <a:endParaRPr lang="en-US" altLang="en-GB"/>
          </a:p>
          <a:p>
            <a:pPr lvl="1"/>
            <a:r>
              <a:rPr lang="en-US" altLang="en-GB"/>
              <a:t>Deleting lo</a:t>
            </a:r>
            <a:r>
              <a:rPr lang="en-GB" altLang="en-US"/>
              <a:t>g</a:t>
            </a:r>
            <a:r>
              <a:rPr lang="en-US" altLang="en-GB"/>
              <a:t>s constitutes obstruction of investigation.</a:t>
            </a:r>
            <a:endParaRPr lang="en-US" altLang="en-GB"/>
          </a:p>
          <a:p>
            <a:r>
              <a:rPr lang="en-US" altLang="en-GB"/>
              <a:t>Timeline Manipulation</a:t>
            </a:r>
            <a:endParaRPr lang="en-US" altLang="en-GB"/>
          </a:p>
          <a:p>
            <a:pPr lvl="1"/>
            <a:r>
              <a:rPr lang="en-US" altLang="en-GB"/>
              <a:t>System time rollback = high-level anti-forensics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Final Case Conclusion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r>
              <a:rPr lang="en-US" altLang="en-GB"/>
              <a:t>Attacker used a newly created account (“master”) to carry out all actions</a:t>
            </a:r>
            <a:endParaRPr lang="en-US" altLang="en-GB"/>
          </a:p>
          <a:p>
            <a:r>
              <a:rPr lang="en-US" altLang="en-GB"/>
              <a:t>Persistence established via modified magnify.exe + LNK placement</a:t>
            </a:r>
            <a:endParaRPr lang="en-US" altLang="en-GB"/>
          </a:p>
          <a:p>
            <a:r>
              <a:rPr lang="en-US" altLang="en-GB"/>
              <a:t>Messages intentionally left to taunt system owner</a:t>
            </a:r>
            <a:endParaRPr lang="en-US" altLang="en-GB"/>
          </a:p>
          <a:p>
            <a:r>
              <a:rPr lang="en-US" altLang="en-GB"/>
              <a:t>Anti-forensics performed via log wiping + time manipulation</a:t>
            </a:r>
            <a:endParaRPr lang="en-US" altLang="en-GB"/>
          </a:p>
          <a:p>
            <a:r>
              <a:rPr lang="en-US" altLang="en-GB"/>
              <a:t>Evidence consistently correlates across:</a:t>
            </a:r>
            <a:endParaRPr lang="en-US" altLang="en-GB"/>
          </a:p>
          <a:p>
            <a:pPr lvl="1"/>
            <a:r>
              <a:rPr lang="en-US" altLang="en-GB"/>
              <a:t>MFT</a:t>
            </a:r>
            <a:endParaRPr lang="en-US" altLang="en-GB"/>
          </a:p>
          <a:p>
            <a:pPr lvl="1"/>
            <a:r>
              <a:rPr lang="en-US" altLang="en-GB"/>
              <a:t>Amcache</a:t>
            </a:r>
            <a:endParaRPr lang="en-US" altLang="en-GB"/>
          </a:p>
          <a:p>
            <a:pPr lvl="1"/>
            <a:r>
              <a:rPr lang="en-US" altLang="en-GB"/>
              <a:t>LNK files</a:t>
            </a:r>
            <a:endParaRPr lang="en-US" altLang="en-GB"/>
          </a:p>
          <a:p>
            <a:pPr lvl="1"/>
            <a:r>
              <a:rPr lang="en-US" altLang="en-GB"/>
              <a:t>Registry</a:t>
            </a:r>
            <a:endParaRPr lang="en-US" altLang="en-GB"/>
          </a:p>
          <a:p>
            <a:pPr lvl="1"/>
            <a:r>
              <a:rPr lang="en-US" altLang="en-GB"/>
              <a:t>Prefetch</a:t>
            </a:r>
            <a:endParaRPr lang="en-US" altLang="en-GB"/>
          </a:p>
          <a:p>
            <a:pPr lvl="1"/>
            <a:r>
              <a:rPr lang="en-US" altLang="en-GB"/>
              <a:t>Document timestamps</a:t>
            </a:r>
            <a:endParaRPr lang="en-US" altLang="en-GB"/>
          </a:p>
          <a:p>
            <a:r>
              <a:rPr lang="en-US" altLang="en-GB"/>
              <a:t>Final Finding:</a:t>
            </a:r>
            <a:endParaRPr lang="en-US" altLang="en-GB"/>
          </a:p>
          <a:p>
            <a:pPr marL="0" indent="0">
              <a:buNone/>
            </a:pPr>
            <a:r>
              <a:rPr lang="en-GB" altLang="en-US"/>
              <a:t> 	</a:t>
            </a:r>
            <a:r>
              <a:rPr lang="en-US" altLang="en-GB"/>
              <a:t>This was a deliberate intrusion involving persistence, deception, and forensic evasion.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2321</Words>
  <Application>WPS Presentation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Hazem</cp:lastModifiedBy>
  <cp:revision>3</cp:revision>
  <dcterms:created xsi:type="dcterms:W3CDTF">2025-07-23T00:59:00Z</dcterms:created>
  <dcterms:modified xsi:type="dcterms:W3CDTF">2025-11-30T17:34:38Z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947EE8EBD42B4E179D3ED9669B60000E_11</vt:lpwstr>
  </property>
  <property fmtid="{D5CDD505-2E9C-101B-9397-08002B2CF9AE}" pid="3" name="KSOProductBuildVer">
    <vt:lpwstr>2057-12.2.0.23149</vt:lpwstr>
  </property>
</Properties>
</file>